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Introduce the project: an image classifier that labels fruit as fresh or rotten using transfer learning with EfficientNet-B0.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statement: propose an objective fresh/rotten classifier. Manual inspection is slow and subjective; there is a gap for a fast, low-cost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it matters: food waste (~1/3 of food is lost/wasted per FAO), inconsistent consumer choices, manual grading cost, and the opportunity of ubiquitous cameras.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Market gap: manual inspection, costly industrial sorters, and generic classifiers all fall short. Missing: an affordable, freshness-specific, multi-fruit, lightweight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Technical approach: input -&gt; preprocess (224x224, normalize) -&gt; EfficientNet-B0 features -&gt; classifier head -&gt; fresh/rotten prediction with confidence.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Transfer learning: reuse EfficientNet-B0 features learned on ImageNet, freeze the backbone, and train a new 2-class head. Less data, faster, more accurate than scratch.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Dataset: 13,599 fresh/rotten images across apple, banana, orange. Stratified 70/15/15 split. Rotten class is larger, so training uses class-weighted loss.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Architecture: EfficientNet-B0 (MBConv + SE blocks, ~5.3M params) produces 1,280 features, followed by Dropout(0.3) and a Linear(1280-&gt;2) head.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Training strategy: two-stage transfer learning (warm-up head, then fine-tune last blocks). AdamW, class-weighted loss to handle imbalance, LR scheduling, augmentation, best-checkpoint on val accuracy. Seed 42.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Results overview placeholder. Fill test accuracy, macro F1, and the per-class precision/recall/F1 once training is done.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Accuracy slide: insert the big test-accuracy number and the training/validation accuracy curve (accuracy_curve.png) generated by the 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Confusion matrix (2x2, fresh/rotten). Explain rows=true, cols=predicted, diagonal=correct. Insert confusion_matrix.png when available.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predictions: show sample test images with predicted class and confidence. Replace confidence placeholders with real values.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divider: live demo. Walk through uploading an image and viewing the prediction.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step 1: upload UI mockup. User drops a fruit photo; it is preprocessed automatically.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step 2: result view mockup. Shows predicted class, confidence bars, and a short explanation of softmax. Note values are illustrative.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Future vision: mobile app, edge/Pi deployment, more fruit types, and multi-fruit real-time detection.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Deployment: EfficientNet-B0's small size makes both an offline mobile app and a Raspberry Pi edge kiosk practical.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Multiple fruits: expand classes, then move from single-fruit classification to multi-object detection with bounding boxes.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Summarize and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image" Target="../media/image-1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jpg"/><Relationship Id="rId3" Type="http://schemas.openxmlformats.org/officeDocument/2006/relationships/image" Target="../media/image-13-3.jpg"/><Relationship Id="rId4" Type="http://schemas.openxmlformats.org/officeDocument/2006/relationships/image" Target="../media/image-13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image" Target="../media/image-2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A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3A29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6301F"/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3840480"/>
            <a:ext cx="5029200" cy="5029200"/>
          </a:xfrm>
          <a:prstGeom prst="ellipse">
            <a:avLst/>
          </a:prstGeom>
          <a:solidFill>
            <a:srgbClr val="16301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A9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 ·  COMPUTER VISION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8778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Fruit Ripeness Detection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D7E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Classifying fruit as fresh or rotten from a single image using transfer learning with EfficientNet-B0.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397764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3C8E52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97764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487168" y="397764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8A5A3B"/>
          </a:solidFill>
          <a:ln/>
        </p:spPr>
      </p:sp>
      <p:sp>
        <p:nvSpPr>
          <p:cNvPr id="11" name="Text 9"/>
          <p:cNvSpPr/>
          <p:nvPr/>
        </p:nvSpPr>
        <p:spPr>
          <a:xfrm>
            <a:off x="2487168" y="397764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ROTTEN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Priti</a:t>
            </a:r>
            <a:pPr indent="0" marL="0">
              <a:buNone/>
            </a:pPr>
            <a:r>
              <a:rPr lang="en-US" sz="1400" dirty="0">
                <a:solidFill>
                  <a:srgbClr val="9DB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Final Project — Proof of Concept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732520" y="1600200"/>
            <a:ext cx="16002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8E2D6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40">
                <a:alpha val="16000"/>
              </a:srgbClr>
            </a:outerShdw>
          </a:effectLst>
        </p:spPr>
      </p:sp>
      <p:pic>
        <p:nvPicPr>
          <p:cNvPr id="14" name="Image 0" descr="/tmp/fruitdeck/img/fresh_app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960" y="1691640"/>
            <a:ext cx="1417320" cy="141732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8915400" y="3026664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3C8E52"/>
          </a:solidFill>
          <a:ln/>
          <a:effectLst>
            <a:outerShdw sx="100000" sy="100000" kx="0" ky="0" algn="bl" rotWithShape="0" blurRad="63500" dist="12700" dir="5400000">
              <a:srgbClr val="3A4A40">
                <a:alpha val="2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915400" y="3026664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10378440" y="2788920"/>
            <a:ext cx="14630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2D6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40">
                <a:alpha val="16000"/>
              </a:srgbClr>
            </a:outerShdw>
          </a:effectLst>
        </p:spPr>
      </p:sp>
      <p:pic>
        <p:nvPicPr>
          <p:cNvPr id="18" name="Image 1" descr="/tmp/fruitdeck/img/rotten_banana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2880360"/>
            <a:ext cx="1280160" cy="128016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10492740" y="4078224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8A5A3B"/>
          </a:solidFill>
          <a:ln/>
          <a:effectLst>
            <a:outerShdw sx="100000" sy="100000" kx="0" ky="0" algn="bl" rotWithShape="0" blurRad="63500" dist="12700" dir="5400000">
              <a:srgbClr val="3A4A40">
                <a:alpha val="20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10492740" y="4078224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Rotten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8869680" y="3794760"/>
            <a:ext cx="1371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E2D6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40">
                <a:alpha val="16000"/>
              </a:srgbClr>
            </a:outerShdw>
          </a:effectLst>
        </p:spPr>
      </p:sp>
      <p:pic>
        <p:nvPicPr>
          <p:cNvPr id="22" name="Image 2" descr="/tmp/fruitdeck/img/fresh_orange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388620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37160" cy="137160"/>
          </a:xfrm>
          <a:prstGeom prst="ellipse">
            <a:avLst/>
          </a:prstGeom>
          <a:solidFill>
            <a:srgbClr val="5A9E6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35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22B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424160" y="475488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5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pPr algn="r" indent="0" marL="0">
              <a:buNone/>
            </a:pPr>
            <a:r>
              <a:rPr lang="en-US" sz="1200" dirty="0">
                <a:solidFill>
                  <a:srgbClr val="6A7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5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propose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993392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2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image-based classifier that tells whether a piece of fruit is fresh or rotten from a single photo — instantly and objectively.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88036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5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3227832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2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freshness is judged by hand — slow, subjective, and inconsistent from person to person and store to store.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411480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5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4462272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2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Shoppers, grocers, and supply chains lack a fast, low-cost, repeatable way to check fruit quality at scale.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903720" y="1600200"/>
            <a:ext cx="4754880" cy="4160520"/>
          </a:xfrm>
          <a:prstGeom prst="roundRect">
            <a:avLst>
              <a:gd name="adj" fmla="val 1978"/>
            </a:avLst>
          </a:prstGeom>
          <a:solidFill>
            <a:srgbClr val="F2F6F1"/>
          </a:solidFill>
          <a:ln w="12700">
            <a:solidFill>
              <a:srgbClr val="D8E2D6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4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086600" y="17830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7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fruit, two very different states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60920" y="2240280"/>
            <a:ext cx="17830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8E2D6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40">
                <a:alpha val="16000"/>
              </a:srgbClr>
            </a:outerShdw>
          </a:effectLst>
        </p:spPr>
      </p:sp>
      <p:pic>
        <p:nvPicPr>
          <p:cNvPr id="15" name="Image 0" descr="/tmp/fruitdeck/img/fresh_app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2331720"/>
            <a:ext cx="1600200" cy="160020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7635240" y="3849624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3C8E52"/>
          </a:solidFill>
          <a:ln/>
          <a:effectLst>
            <a:outerShdw sx="100000" sy="100000" kx="0" ky="0" algn="bl" rotWithShape="0" blurRad="63500" dist="12700" dir="5400000">
              <a:srgbClr val="3A4A40">
                <a:alpha val="2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635240" y="3849624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9418320" y="2240280"/>
            <a:ext cx="17830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8E2D6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40">
                <a:alpha val="16000"/>
              </a:srgbClr>
            </a:outerShdw>
          </a:effectLst>
        </p:spPr>
      </p:sp>
      <p:pic>
        <p:nvPicPr>
          <p:cNvPr id="19" name="Image 1" descr="/tmp/fruitdeck/img/rotten_appl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2331720"/>
            <a:ext cx="1600200" cy="1600200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9692640" y="3849624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8A5A3B"/>
          </a:solidFill>
          <a:ln/>
          <a:effectLst>
            <a:outerShdw sx="100000" sy="100000" kx="0" ky="0" algn="bl" rotWithShape="0" blurRad="63500" dist="12700" dir="5400000">
              <a:srgbClr val="3A4A40">
                <a:alpha val="20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9692640" y="3849624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Rotten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7223760" y="434340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2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Color, texture, and surface spots separate fresh fruit from spoiled fruit — exactly the visual cues a vision model can learn.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37160" cy="137160"/>
          </a:xfrm>
          <a:prstGeom prst="ellipse">
            <a:avLst/>
          </a:prstGeom>
          <a:solidFill>
            <a:srgbClr val="5A9E6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35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22B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Ripeness Detection Matters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424160" y="475488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5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pPr algn="r" indent="0" marL="0">
              <a:buNone/>
            </a:pPr>
            <a:r>
              <a:rPr lang="en-US" sz="1200" dirty="0">
                <a:solidFill>
                  <a:srgbClr val="6A7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2697480" cy="3063240"/>
          </a:xfrm>
          <a:prstGeom prst="roundRect">
            <a:avLst>
              <a:gd name="adj" fmla="val 3051"/>
            </a:avLst>
          </a:prstGeom>
          <a:solidFill>
            <a:srgbClr val="F2F6F1"/>
          </a:solidFill>
          <a:ln w="12700">
            <a:solidFill>
              <a:srgbClr val="D8E2D6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4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85900" y="2423160"/>
            <a:ext cx="822960" cy="822960"/>
          </a:xfrm>
          <a:prstGeom prst="ellipse">
            <a:avLst/>
          </a:prstGeom>
          <a:solidFill>
            <a:srgbClr val="D79A2B"/>
          </a:solidFill>
          <a:ln/>
          <a:effectLst>
            <a:outerShdw sx="100000" sy="100000" kx="0" ky="0" algn="bl" rotWithShape="0" blurRad="63500" dist="12700" dir="5400000">
              <a:srgbClr val="3A4A4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485900" y="24231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~1/3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9808" y="3520440"/>
            <a:ext cx="22951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22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food produced is lost or wasted — poor freshness assessment is a major driver.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456432" y="1965960"/>
            <a:ext cx="2697480" cy="3063240"/>
          </a:xfrm>
          <a:prstGeom prst="roundRect">
            <a:avLst>
              <a:gd name="adj" fmla="val 3051"/>
            </a:avLst>
          </a:prstGeom>
          <a:solidFill>
            <a:srgbClr val="F2F6F1"/>
          </a:solidFill>
          <a:ln w="12700">
            <a:solidFill>
              <a:srgbClr val="D8E2D6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4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93692" y="2423160"/>
            <a:ext cx="822960" cy="822960"/>
          </a:xfrm>
          <a:prstGeom prst="ellipse">
            <a:avLst/>
          </a:prstGeom>
          <a:solidFill>
            <a:srgbClr val="356B47"/>
          </a:solidFill>
          <a:ln/>
          <a:effectLst>
            <a:outerShdw sx="100000" sy="100000" kx="0" ky="0" algn="bl" rotWithShape="0" blurRad="63500" dist="12700" dir="5400000">
              <a:srgbClr val="3A4A4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393692" y="24231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0" y="3520440"/>
            <a:ext cx="22951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22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shoppers guess at fruit quality with no consistent, objective reference.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64224" y="1965960"/>
            <a:ext cx="2697480" cy="3063240"/>
          </a:xfrm>
          <a:prstGeom prst="roundRect">
            <a:avLst>
              <a:gd name="adj" fmla="val 3051"/>
            </a:avLst>
          </a:prstGeom>
          <a:solidFill>
            <a:srgbClr val="F2F6F1"/>
          </a:solidFill>
          <a:ln w="12700">
            <a:solidFill>
              <a:srgbClr val="D8E2D6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4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01484" y="2423160"/>
            <a:ext cx="822960" cy="822960"/>
          </a:xfrm>
          <a:prstGeom prst="ellipse">
            <a:avLst/>
          </a:prstGeom>
          <a:solidFill>
            <a:srgbClr val="8A5A3B"/>
          </a:solidFill>
          <a:ln/>
          <a:effectLst>
            <a:outerShdw sx="100000" sy="100000" kx="0" ky="0" algn="bl" rotWithShape="0" blurRad="63500" dist="12700" dir="5400000">
              <a:srgbClr val="3A4A4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01484" y="24231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65392" y="3520440"/>
            <a:ext cx="22951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22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grocery and supply-chain grading is labor-intensive and varies by inspector.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272016" y="1965960"/>
            <a:ext cx="2697480" cy="3063240"/>
          </a:xfrm>
          <a:prstGeom prst="roundRect">
            <a:avLst>
              <a:gd name="adj" fmla="val 3051"/>
            </a:avLst>
          </a:prstGeom>
          <a:solidFill>
            <a:srgbClr val="F2F6F1"/>
          </a:solidFill>
          <a:ln w="12700">
            <a:solidFill>
              <a:srgbClr val="D8E2D6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4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0209276" y="2423160"/>
            <a:ext cx="822960" cy="822960"/>
          </a:xfrm>
          <a:prstGeom prst="ellipse">
            <a:avLst/>
          </a:prstGeom>
          <a:solidFill>
            <a:srgbClr val="5A9E6F"/>
          </a:solidFill>
          <a:ln/>
          <a:effectLst>
            <a:outerShdw sx="100000" sy="100000" kx="0" ky="0" algn="bl" rotWithShape="0" blurRad="63500" dist="12700" dir="5400000">
              <a:srgbClr val="3A4A4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0209276" y="24231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473184" y="3520440"/>
            <a:ext cx="22951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22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camera in every pocket could make quality checks instant and accessible.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6A7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Objective, image-based freshness detection addresses waste, consumer confidence, and labor cost at once.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37160" cy="137160"/>
          </a:xfrm>
          <a:prstGeom prst="ellipse">
            <a:avLst/>
          </a:prstGeom>
          <a:solidFill>
            <a:srgbClr val="5A9E6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35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22B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Missing in the Market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424160" y="475488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5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pPr algn="r" indent="0" marL="0">
              <a:buNone/>
            </a:pPr>
            <a:r>
              <a:rPr lang="en-US" sz="1200" dirty="0">
                <a:solidFill>
                  <a:srgbClr val="6A7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349240" cy="4160520"/>
          </a:xfrm>
          <a:prstGeom prst="roundRect">
            <a:avLst>
              <a:gd name="adj" fmla="val 1978"/>
            </a:avLst>
          </a:prstGeom>
          <a:solidFill>
            <a:srgbClr val="F2F6F1"/>
          </a:solidFill>
          <a:ln w="12700">
            <a:solidFill>
              <a:srgbClr val="D8E2D6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4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8745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exists today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331720"/>
            <a:ext cx="4800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22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visual inspection — subjective and hard to scale.</a:t>
            </a:r>
            <a:endParaRPr lang="en-US" sz="1450" dirty="0"/>
          </a:p>
          <a:p>
            <a:pPr algn="l" marL="177800" indent="-1778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22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optical sorters — accurate but expensive and fixed to a facility.</a:t>
            </a:r>
            <a:endParaRPr lang="en-US" sz="1450" dirty="0"/>
          </a:p>
          <a:p>
            <a:pPr algn="l" marL="177800" indent="-1778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22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fruit-type classifiers — they name the fruit, not its condition.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309360" y="1691640"/>
            <a:ext cx="5349240" cy="4160520"/>
          </a:xfrm>
          <a:prstGeom prst="roundRect">
            <a:avLst>
              <a:gd name="adj" fmla="val 1978"/>
            </a:avLst>
          </a:prstGeom>
          <a:solidFill>
            <a:srgbClr val="E8F0E7"/>
          </a:solidFill>
          <a:ln w="12700">
            <a:solidFill>
              <a:srgbClr val="5A9E6F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4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0" y="18745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5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still missing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29400" y="2331720"/>
            <a:ext cx="4800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affordable tool anyone can use — no special hardware.</a:t>
            </a:r>
            <a:endParaRPr lang="en-US" sz="145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Freshness-specific decisions: fresh vs. rotten, not just fruit identity.</a:t>
            </a:r>
            <a:endParaRPr lang="en-US" sz="145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across common fruits (apple, banana, orange) from one model.</a:t>
            </a:r>
            <a:endParaRPr lang="en-US" sz="145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enough to run on a phone or a small edge device.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37160" cy="137160"/>
          </a:xfrm>
          <a:prstGeom prst="ellipse">
            <a:avLst/>
          </a:prstGeom>
          <a:solidFill>
            <a:srgbClr val="5A9E6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35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22B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System Works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424160" y="475488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5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pPr algn="r" indent="0" marL="0">
              <a:buNone/>
            </a:pPr>
            <a:r>
              <a:rPr lang="en-US" sz="1200" dirty="0">
                <a:solidFill>
                  <a:srgbClr val="6A7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2103120" cy="2377440"/>
          </a:xfrm>
          <a:prstGeom prst="roundRect">
            <a:avLst>
              <a:gd name="adj" fmla="val 3913"/>
            </a:avLst>
          </a:prstGeom>
          <a:solidFill>
            <a:srgbClr val="F2F6F1"/>
          </a:solidFill>
          <a:ln w="12700">
            <a:solidFill>
              <a:srgbClr val="D8E2D6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4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25880" y="2633472"/>
            <a:ext cx="548640" cy="548640"/>
          </a:xfrm>
          <a:prstGeom prst="ellipse">
            <a:avLst/>
          </a:prstGeom>
          <a:solidFill>
            <a:srgbClr val="5A9E6F"/>
          </a:solidFill>
          <a:ln/>
        </p:spPr>
      </p:sp>
      <p:sp>
        <p:nvSpPr>
          <p:cNvPr id="8" name="Text 6"/>
          <p:cNvSpPr/>
          <p:nvPr/>
        </p:nvSpPr>
        <p:spPr>
          <a:xfrm>
            <a:off x="1325880" y="26334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58368" y="3291840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image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76656" y="3749040"/>
            <a:ext cx="184708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A7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photo of a single fruit is uploaded.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633472" y="3200400"/>
            <a:ext cx="2194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A9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2834640" y="2377440"/>
            <a:ext cx="2103120" cy="2377440"/>
          </a:xfrm>
          <a:prstGeom prst="roundRect">
            <a:avLst>
              <a:gd name="adj" fmla="val 3913"/>
            </a:avLst>
          </a:prstGeom>
          <a:solidFill>
            <a:srgbClr val="F2F6F1"/>
          </a:solidFill>
          <a:ln w="12700">
            <a:solidFill>
              <a:srgbClr val="D8E2D6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4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11880" y="2633472"/>
            <a:ext cx="548640" cy="548640"/>
          </a:xfrm>
          <a:prstGeom prst="ellipse">
            <a:avLst/>
          </a:prstGeom>
          <a:solidFill>
            <a:srgbClr val="5A9E6F"/>
          </a:solidFill>
          <a:ln/>
        </p:spPr>
      </p:sp>
      <p:sp>
        <p:nvSpPr>
          <p:cNvPr id="14" name="Text 12"/>
          <p:cNvSpPr/>
          <p:nvPr/>
        </p:nvSpPr>
        <p:spPr>
          <a:xfrm>
            <a:off x="3611880" y="26334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944368" y="3291840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962656" y="3749040"/>
            <a:ext cx="184708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A7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to 224×224 and normalize to ImageNet statistics.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919472" y="3200400"/>
            <a:ext cx="2194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A9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5120640" y="2377440"/>
            <a:ext cx="2103120" cy="2377440"/>
          </a:xfrm>
          <a:prstGeom prst="roundRect">
            <a:avLst>
              <a:gd name="adj" fmla="val 3913"/>
            </a:avLst>
          </a:prstGeom>
          <a:solidFill>
            <a:srgbClr val="E8F0E7"/>
          </a:solidFill>
          <a:ln w="12700">
            <a:solidFill>
              <a:srgbClr val="5A9E6F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4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897880" y="2633472"/>
            <a:ext cx="548640" cy="548640"/>
          </a:xfrm>
          <a:prstGeom prst="ellipse">
            <a:avLst/>
          </a:prstGeom>
          <a:solidFill>
            <a:srgbClr val="356B47"/>
          </a:solidFill>
          <a:ln/>
        </p:spPr>
      </p:sp>
      <p:sp>
        <p:nvSpPr>
          <p:cNvPr id="20" name="Text 18"/>
          <p:cNvSpPr/>
          <p:nvPr/>
        </p:nvSpPr>
        <p:spPr>
          <a:xfrm>
            <a:off x="5897880" y="26334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230368" y="3291840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EfficientNet-B0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248656" y="3749040"/>
            <a:ext cx="184708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A7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CNN backbone extracts visual features.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205472" y="3200400"/>
            <a:ext cx="2194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A9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7406640" y="2377440"/>
            <a:ext cx="2103120" cy="2377440"/>
          </a:xfrm>
          <a:prstGeom prst="roundRect">
            <a:avLst>
              <a:gd name="adj" fmla="val 3913"/>
            </a:avLst>
          </a:prstGeom>
          <a:solidFill>
            <a:srgbClr val="F2F6F1"/>
          </a:solidFill>
          <a:ln w="12700">
            <a:solidFill>
              <a:srgbClr val="D8E2D6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40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183880" y="2633472"/>
            <a:ext cx="548640" cy="548640"/>
          </a:xfrm>
          <a:prstGeom prst="ellipse">
            <a:avLst/>
          </a:prstGeom>
          <a:solidFill>
            <a:srgbClr val="5A9E6F"/>
          </a:solidFill>
          <a:ln/>
        </p:spPr>
      </p:sp>
      <p:sp>
        <p:nvSpPr>
          <p:cNvPr id="26" name="Text 24"/>
          <p:cNvSpPr/>
          <p:nvPr/>
        </p:nvSpPr>
        <p:spPr>
          <a:xfrm>
            <a:off x="8183880" y="26334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516368" y="3291840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head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534656" y="3749040"/>
            <a:ext cx="184708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A7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trained head maps features to a class.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491472" y="3200400"/>
            <a:ext cx="2194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A9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9692640" y="2377440"/>
            <a:ext cx="2103120" cy="2377440"/>
          </a:xfrm>
          <a:prstGeom prst="roundRect">
            <a:avLst>
              <a:gd name="adj" fmla="val 3913"/>
            </a:avLst>
          </a:prstGeom>
          <a:solidFill>
            <a:srgbClr val="F2F6F1"/>
          </a:solidFill>
          <a:ln w="12700">
            <a:solidFill>
              <a:srgbClr val="D8E2D6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40">
                <a:alpha val="14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0469880" y="2633472"/>
            <a:ext cx="548640" cy="548640"/>
          </a:xfrm>
          <a:prstGeom prst="ellipse">
            <a:avLst/>
          </a:prstGeom>
          <a:solidFill>
            <a:srgbClr val="5A9E6F"/>
          </a:solidFill>
          <a:ln/>
        </p:spPr>
      </p:sp>
      <p:sp>
        <p:nvSpPr>
          <p:cNvPr id="32" name="Text 30"/>
          <p:cNvSpPr/>
          <p:nvPr/>
        </p:nvSpPr>
        <p:spPr>
          <a:xfrm>
            <a:off x="10469880" y="26334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9802368" y="3291840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820656" y="3749040"/>
            <a:ext cx="184708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A7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Fresh or Rotten, with a confidence score.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48640" y="52120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A7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supervised image-classification pipeline — trained end-to-end and served behind a simple upload interface.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37160" cy="137160"/>
          </a:xfrm>
          <a:prstGeom prst="ellipse">
            <a:avLst/>
          </a:prstGeom>
          <a:solidFill>
            <a:srgbClr val="5A9E6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35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22B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Transfer Learning with EfficientNet-B0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424160" y="475488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5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pPr algn="r" indent="0" marL="0">
              <a:buNone/>
            </a:pPr>
            <a:r>
              <a:rPr lang="en-US" sz="1200" dirty="0">
                <a:solidFill>
                  <a:srgbClr val="6A7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5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start from a pretrained model?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5852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2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EfficientNet-B0 is pretrained on ImageNet — 1.2M images across 1,000 categories.</a:t>
            </a:r>
            <a:endParaRPr lang="en-US" sz="1500" dirty="0"/>
          </a:p>
          <a:p>
            <a:pPr algn="l"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2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early layers already recognize edges, texture, and color — the same cues that reveal browning and spots.</a:t>
            </a:r>
            <a:endParaRPr lang="en-US" sz="1500" dirty="0"/>
          </a:p>
          <a:p>
            <a:pPr algn="l"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2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freeze that backbone and attach a new 2-class head for fresh vs. rotten.</a:t>
            </a:r>
            <a:endParaRPr lang="en-US" sz="1500" dirty="0"/>
          </a:p>
          <a:p>
            <a:pPr algn="l"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2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strong accuracy with far less data and training time than starting from scratch.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0" y="1737360"/>
            <a:ext cx="4800600" cy="4023360"/>
          </a:xfrm>
          <a:prstGeom prst="roundRect">
            <a:avLst>
              <a:gd name="adj" fmla="val 2045"/>
            </a:avLst>
          </a:prstGeom>
          <a:solidFill>
            <a:srgbClr val="F2F6F1"/>
          </a:solidFill>
          <a:ln w="12700">
            <a:solidFill>
              <a:srgbClr val="D8E2D6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4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223760" y="2057400"/>
            <a:ext cx="4069080" cy="640080"/>
          </a:xfrm>
          <a:prstGeom prst="roundRect">
            <a:avLst>
              <a:gd name="adj" fmla="val 8571"/>
            </a:avLst>
          </a:prstGeom>
          <a:solidFill>
            <a:srgbClr val="E9EFE8"/>
          </a:solidFill>
          <a:ln/>
          <a:effectLst>
            <a:outerShdw sx="100000" sy="100000" kx="0" ky="0" algn="bl" rotWithShape="0" blurRad="63500" dist="12700" dir="5400000">
              <a:srgbClr val="3A4A4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269480" y="2057400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image  ·  224 × 224 × 3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223760" y="2852928"/>
            <a:ext cx="4069080" cy="1051560"/>
          </a:xfrm>
          <a:prstGeom prst="roundRect">
            <a:avLst>
              <a:gd name="adj" fmla="val 5217"/>
            </a:avLst>
          </a:prstGeom>
          <a:solidFill>
            <a:srgbClr val="356B47"/>
          </a:solidFill>
          <a:ln/>
          <a:effectLst>
            <a:outerShdw sx="100000" sy="100000" kx="0" ky="0" algn="bl" rotWithShape="0" blurRad="63500" dist="12700" dir="5400000">
              <a:srgbClr val="3A4A4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269480" y="2852928"/>
            <a:ext cx="3977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EfficientNet-B0 backbone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(frozen — reused ImageNet features)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223760" y="4059936"/>
            <a:ext cx="4069080" cy="566928"/>
          </a:xfrm>
          <a:prstGeom prst="roundRect">
            <a:avLst>
              <a:gd name="adj" fmla="val 9677"/>
            </a:avLst>
          </a:prstGeom>
          <a:solidFill>
            <a:srgbClr val="D79A2B"/>
          </a:solidFill>
          <a:ln/>
          <a:effectLst>
            <a:outerShdw sx="100000" sy="100000" kx="0" ky="0" algn="bl" rotWithShape="0" blurRad="63500" dist="12700" dir="5400000">
              <a:srgbClr val="3A4A4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269480" y="4059936"/>
            <a:ext cx="3977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(0.3)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223760" y="4754880"/>
            <a:ext cx="4069080" cy="566928"/>
          </a:xfrm>
          <a:prstGeom prst="roundRect">
            <a:avLst>
              <a:gd name="adj" fmla="val 9677"/>
            </a:avLst>
          </a:prstGeom>
          <a:solidFill>
            <a:srgbClr val="5A9E6F"/>
          </a:solidFill>
          <a:ln/>
          <a:effectLst>
            <a:outerShdw sx="100000" sy="100000" kx="0" ky="0" algn="bl" rotWithShape="0" blurRad="63500" dist="12700" dir="5400000">
              <a:srgbClr val="3A4A4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269480" y="4754880"/>
            <a:ext cx="3977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classifier head → 2 classes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052560" y="2642616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7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052560" y="3803904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7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052560" y="4535424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7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37160" cy="137160"/>
          </a:xfrm>
          <a:prstGeom prst="ellipse">
            <a:avLst/>
          </a:prstGeom>
          <a:solidFill>
            <a:srgbClr val="5A9E6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35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22B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Details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424160" y="475488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5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pPr algn="r" indent="0" marL="0">
              <a:buNone/>
            </a:pPr>
            <a:r>
              <a:rPr lang="en-US" sz="1200" dirty="0">
                <a:solidFill>
                  <a:srgbClr val="6A7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074920" cy="4114800"/>
          </a:xfrm>
          <a:prstGeom prst="roundRect">
            <a:avLst>
              <a:gd name="adj" fmla="val 2000"/>
            </a:avLst>
          </a:prstGeom>
          <a:solidFill>
            <a:srgbClr val="F2F6F1"/>
          </a:solidFill>
          <a:ln w="12700">
            <a:solidFill>
              <a:srgbClr val="D8E2D6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40">
                <a:alpha val="14000"/>
              </a:srgbClr>
            </a:outerShdw>
          </a:effectLst>
        </p:spPr>
      </p:sp>
      <p:pic>
        <p:nvPicPr>
          <p:cNvPr id="7" name="Image 0" descr="/tmp/fruitdeck/img/montage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74520"/>
            <a:ext cx="4709160" cy="31546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5138928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C8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row: fresh   </a:t>
            </a:r>
            <a:pPr algn="ctr" indent="0" marL="0">
              <a:buNone/>
            </a:pPr>
            <a:r>
              <a:rPr lang="en-US" sz="1200" b="1" dirty="0">
                <a:solidFill>
                  <a:srgbClr val="8A5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 Bottom row: rotten   </a:t>
            </a:r>
            <a:pPr algn="ctr" indent="0" marL="0">
              <a:buNone/>
            </a:pPr>
            <a:r>
              <a:rPr lang="en-US" sz="1200" dirty="0">
                <a:solidFill>
                  <a:srgbClr val="6A7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apple, banana, orange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989320" y="1691640"/>
            <a:ext cx="2743200" cy="1170432"/>
          </a:xfrm>
          <a:prstGeom prst="roundRect">
            <a:avLst>
              <a:gd name="adj" fmla="val 7031"/>
            </a:avLst>
          </a:prstGeom>
          <a:solidFill>
            <a:srgbClr val="F2F6F1"/>
          </a:solidFill>
          <a:ln w="12700">
            <a:solidFill>
              <a:srgbClr val="D8E2D6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40">
                <a:alpha val="14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126480" y="1837944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5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13,599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6144768" y="240487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A7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images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869680" y="1691640"/>
            <a:ext cx="2743200" cy="1170432"/>
          </a:xfrm>
          <a:prstGeom prst="roundRect">
            <a:avLst>
              <a:gd name="adj" fmla="val 7031"/>
            </a:avLst>
          </a:prstGeom>
          <a:solidFill>
            <a:srgbClr val="F2F6F1"/>
          </a:solidFill>
          <a:ln w="12700">
            <a:solidFill>
              <a:srgbClr val="D8E2D6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40">
                <a:alpha val="14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9006840" y="1837944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5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9025128" y="240487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A7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 types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989320" y="2999232"/>
            <a:ext cx="2743200" cy="1170432"/>
          </a:xfrm>
          <a:prstGeom prst="roundRect">
            <a:avLst>
              <a:gd name="adj" fmla="val 7031"/>
            </a:avLst>
          </a:prstGeom>
          <a:solidFill>
            <a:srgbClr val="F2F6F1"/>
          </a:solidFill>
          <a:ln w="12700">
            <a:solidFill>
              <a:srgbClr val="D8E2D6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40">
                <a:alpha val="14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126480" y="3145536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5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6144768" y="371246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A7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ripeness classes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869680" y="2999232"/>
            <a:ext cx="2743200" cy="1170432"/>
          </a:xfrm>
          <a:prstGeom prst="roundRect">
            <a:avLst>
              <a:gd name="adj" fmla="val 7031"/>
            </a:avLst>
          </a:prstGeom>
          <a:solidFill>
            <a:srgbClr val="F2F6F1"/>
          </a:solidFill>
          <a:ln w="12700">
            <a:solidFill>
              <a:srgbClr val="D8E2D6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40">
                <a:alpha val="14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9006840" y="3145536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35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 / 15 / 15</a:t>
            </a:r>
            <a:endParaRPr lang="en-US" sz="2300" dirty="0"/>
          </a:p>
        </p:txBody>
      </p:sp>
      <p:sp>
        <p:nvSpPr>
          <p:cNvPr id="20" name="Text 17"/>
          <p:cNvSpPr/>
          <p:nvPr/>
        </p:nvSpPr>
        <p:spPr>
          <a:xfrm>
            <a:off x="9025128" y="371246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A7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 / test split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989320" y="4343400"/>
            <a:ext cx="562356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D8E2D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126480" y="4434840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distribution (apple · banana · orange)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4754880"/>
          <a:ext cx="53492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371600"/>
                <a:gridCol w="28803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Fresh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8E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5,904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A77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2,088 · 1,962 · 1,854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Rotten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5A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7,695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A77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2,943 · 2,754 · 1,998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37160" cy="137160"/>
          </a:xfrm>
          <a:prstGeom prst="ellipse">
            <a:avLst/>
          </a:prstGeom>
          <a:solidFill>
            <a:srgbClr val="5A9E6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35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22B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Architecture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424160" y="475488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5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pPr algn="r" indent="0" marL="0">
              <a:buNone/>
            </a:pPr>
            <a:r>
              <a:rPr lang="en-US" sz="1200" dirty="0">
                <a:solidFill>
                  <a:srgbClr val="6A7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2121408" cy="1554480"/>
          </a:xfrm>
          <a:prstGeom prst="roundRect">
            <a:avLst>
              <a:gd name="adj" fmla="val 4706"/>
            </a:avLst>
          </a:prstGeom>
          <a:solidFill>
            <a:srgbClr val="E9EFE8"/>
          </a:solidFill>
          <a:ln/>
          <a:effectLst>
            <a:outerShdw sx="100000" sy="100000" kx="0" ky="0" algn="bl" rotWithShape="0" blurRad="76200" dist="25400" dir="5400000">
              <a:srgbClr val="3A4A4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404872"/>
            <a:ext cx="19385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2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40080" y="2898648"/>
            <a:ext cx="193852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2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 × 224 × 3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651760" y="2651760"/>
            <a:ext cx="2194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A9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852928" y="2148840"/>
            <a:ext cx="2121408" cy="1554480"/>
          </a:xfrm>
          <a:prstGeom prst="roundRect">
            <a:avLst>
              <a:gd name="adj" fmla="val 4706"/>
            </a:avLst>
          </a:prstGeom>
          <a:solidFill>
            <a:srgbClr val="356B47"/>
          </a:solidFill>
          <a:ln/>
          <a:effectLst>
            <a:outerShdw sx="100000" sy="100000" kx="0" ky="0" algn="bl" rotWithShape="0" blurRad="76200" dist="25400" dir="5400000">
              <a:srgbClr val="3A4A4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944368" y="2404872"/>
            <a:ext cx="19385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MBConv stages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2944368" y="2898648"/>
            <a:ext cx="193852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blocks, squeeze-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&amp;-excitation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956048" y="2651760"/>
            <a:ext cx="2194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A9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157216" y="2148840"/>
            <a:ext cx="2121408" cy="1554480"/>
          </a:xfrm>
          <a:prstGeom prst="roundRect">
            <a:avLst>
              <a:gd name="adj" fmla="val 4706"/>
            </a:avLst>
          </a:prstGeom>
          <a:solidFill>
            <a:srgbClr val="5A9E6F"/>
          </a:solidFill>
          <a:ln/>
          <a:effectLst>
            <a:outerShdw sx="100000" sy="100000" kx="0" ky="0" algn="bl" rotWithShape="0" blurRad="76200" dist="25400" dir="5400000">
              <a:srgbClr val="3A4A4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248656" y="2404872"/>
            <a:ext cx="19385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pooling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248656" y="2898648"/>
            <a:ext cx="193852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1,280 features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260336" y="2651760"/>
            <a:ext cx="2194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A9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7461504" y="2148840"/>
            <a:ext cx="2121408" cy="1554480"/>
          </a:xfrm>
          <a:prstGeom prst="roundRect">
            <a:avLst>
              <a:gd name="adj" fmla="val 4706"/>
            </a:avLst>
          </a:prstGeom>
          <a:solidFill>
            <a:srgbClr val="D79A2B"/>
          </a:solidFill>
          <a:ln/>
          <a:effectLst>
            <a:outerShdw sx="100000" sy="100000" kx="0" ky="0" algn="bl" rotWithShape="0" blurRad="76200" dist="25400" dir="5400000">
              <a:srgbClr val="3A4A40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552944" y="2404872"/>
            <a:ext cx="19385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0.3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552944" y="2898648"/>
            <a:ext cx="193852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564624" y="2651760"/>
            <a:ext cx="2194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A9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9765792" y="2148840"/>
            <a:ext cx="2121408" cy="1554480"/>
          </a:xfrm>
          <a:prstGeom prst="roundRect">
            <a:avLst>
              <a:gd name="adj" fmla="val 4706"/>
            </a:avLst>
          </a:prstGeom>
          <a:solidFill>
            <a:srgbClr val="8A5A3B"/>
          </a:solidFill>
          <a:ln/>
          <a:effectLst>
            <a:outerShdw sx="100000" sy="100000" kx="0" ky="0" algn="bl" rotWithShape="0" blurRad="76200" dist="25400" dir="5400000">
              <a:srgbClr val="3A4A40">
                <a:alpha val="1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857232" y="2404872"/>
            <a:ext cx="19385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 layer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9857232" y="2898648"/>
            <a:ext cx="193852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1,280 → 2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4160520"/>
            <a:ext cx="2697480" cy="1280160"/>
          </a:xfrm>
          <a:prstGeom prst="roundRect">
            <a:avLst>
              <a:gd name="adj" fmla="val 6429"/>
            </a:avLst>
          </a:prstGeom>
          <a:solidFill>
            <a:srgbClr val="F2F6F1"/>
          </a:solidFill>
          <a:ln w="12700">
            <a:solidFill>
              <a:srgbClr val="D8E2D6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40">
                <a:alpha val="14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85800" y="434340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5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~5.3M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85800" y="49377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A7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parameters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3456432" y="4160520"/>
            <a:ext cx="2697480" cy="1280160"/>
          </a:xfrm>
          <a:prstGeom prst="roundRect">
            <a:avLst>
              <a:gd name="adj" fmla="val 6429"/>
            </a:avLst>
          </a:prstGeom>
          <a:solidFill>
            <a:srgbClr val="F2F6F1"/>
          </a:solidFill>
          <a:ln w="12700">
            <a:solidFill>
              <a:srgbClr val="D8E2D6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40">
                <a:alpha val="14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593592" y="434340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5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1,280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3593592" y="49377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A7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dimensions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364224" y="4160520"/>
            <a:ext cx="2697480" cy="1280160"/>
          </a:xfrm>
          <a:prstGeom prst="roundRect">
            <a:avLst>
              <a:gd name="adj" fmla="val 6429"/>
            </a:avLst>
          </a:prstGeom>
          <a:solidFill>
            <a:srgbClr val="F2F6F1"/>
          </a:solidFill>
          <a:ln w="12700">
            <a:solidFill>
              <a:srgbClr val="D8E2D6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40">
                <a:alpha val="14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501384" y="434340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5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6501384" y="49377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A7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classes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9272016" y="4160520"/>
            <a:ext cx="2697480" cy="1280160"/>
          </a:xfrm>
          <a:prstGeom prst="roundRect">
            <a:avLst>
              <a:gd name="adj" fmla="val 6429"/>
            </a:avLst>
          </a:prstGeom>
          <a:solidFill>
            <a:srgbClr val="F2F6F1"/>
          </a:solidFill>
          <a:ln w="12700">
            <a:solidFill>
              <a:srgbClr val="D8E2D6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40">
                <a:alpha val="14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9409176" y="434340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5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224²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9409176" y="49377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A7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resolution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548640" y="5623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6A7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EfficientNet-B0 is compound-scaled for a strong accuracy-to-size ratio — small enough for mobile and edge deployment.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37160" cy="137160"/>
          </a:xfrm>
          <a:prstGeom prst="ellipse">
            <a:avLst/>
          </a:prstGeom>
          <a:solidFill>
            <a:srgbClr val="5A9E6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35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22B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Strategy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424160" y="475488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5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pPr algn="r" indent="0" marL="0">
              <a:buNone/>
            </a:pPr>
            <a:r>
              <a:rPr lang="en-US" sz="1200" dirty="0">
                <a:solidFill>
                  <a:srgbClr val="6A7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486400" cy="4114800"/>
          </a:xfrm>
          <a:prstGeom prst="roundRect">
            <a:avLst>
              <a:gd name="adj" fmla="val 2000"/>
            </a:avLst>
          </a:prstGeom>
          <a:solidFill>
            <a:srgbClr val="F2F6F1"/>
          </a:solidFill>
          <a:ln w="12700">
            <a:solidFill>
              <a:srgbClr val="D8E2D6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4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874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5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fine-tuning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7240" y="2377440"/>
            <a:ext cx="502920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8E2D6"/>
            </a:solidFill>
            <a:prstDash val="solid"/>
          </a:ln>
          <a:effectLst>
            <a:outerShdw sx="100000" sy="100000" kx="0" ky="0" algn="bl" rotWithShape="0" blurRad="63500" dist="12700" dir="5400000">
              <a:srgbClr val="3A4A4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0120" y="248716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· Warm-up  </a:t>
            </a:r>
            <a:pPr indent="0" marL="0">
              <a:buNone/>
            </a:pPr>
            <a:r>
              <a:rPr lang="en-US" sz="1400" b="1" dirty="0">
                <a:solidFill>
                  <a:srgbClr val="35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epochs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2852928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A7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the backbone and train only the new classifier head.  Learning rate 1e-3.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3977640"/>
            <a:ext cx="502920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2D6"/>
            </a:solidFill>
            <a:prstDash val="solid"/>
          </a:ln>
          <a:effectLst>
            <a:outerShdw sx="100000" sy="100000" kx="0" ky="0" algn="bl" rotWithShape="0" blurRad="63500" dist="12700" dir="5400000">
              <a:srgbClr val="3A4A4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60120" y="408736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· Fine-tune  </a:t>
            </a:r>
            <a:pPr indent="0" marL="0">
              <a:buNone/>
            </a:pPr>
            <a:r>
              <a:rPr lang="en-US" sz="1400" b="1" dirty="0">
                <a:solidFill>
                  <a:srgbClr val="35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epochs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4453128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A7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Unfreeze the last two blocks and train them with the head.  Backbone LR 1e-5, head LR 1e-4.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63640" y="1691640"/>
            <a:ext cx="5394960" cy="658368"/>
          </a:xfrm>
          <a:prstGeom prst="roundRect">
            <a:avLst>
              <a:gd name="adj" fmla="val 12500"/>
            </a:avLst>
          </a:prstGeom>
          <a:solidFill>
            <a:srgbClr val="E8F0E7"/>
          </a:solidFill>
          <a:ln w="12700">
            <a:solidFill>
              <a:srgbClr val="D8E2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1691640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5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38160" y="1691640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 · weight decay 1e-4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63640" y="2418588"/>
            <a:ext cx="5394960" cy="658368"/>
          </a:xfrm>
          <a:prstGeom prst="roundRect">
            <a:avLst>
              <a:gd name="adj" fmla="val 12500"/>
            </a:avLst>
          </a:prstGeom>
          <a:solidFill>
            <a:srgbClr val="F2F6F1"/>
          </a:solidFill>
          <a:ln w="12700">
            <a:solidFill>
              <a:srgbClr val="D8E2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2418588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5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38160" y="2418588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Class-weighted cross-entropy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63640" y="3145536"/>
            <a:ext cx="5394960" cy="658368"/>
          </a:xfrm>
          <a:prstGeom prst="roundRect">
            <a:avLst>
              <a:gd name="adj" fmla="val 12500"/>
            </a:avLst>
          </a:prstGeom>
          <a:solidFill>
            <a:srgbClr val="E8F0E7"/>
          </a:solidFill>
          <a:ln w="12700">
            <a:solidFill>
              <a:srgbClr val="D8E2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3145536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5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138160" y="3145536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ReduceLROnPlateau (val accuracy)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263640" y="3872484"/>
            <a:ext cx="5394960" cy="658368"/>
          </a:xfrm>
          <a:prstGeom prst="roundRect">
            <a:avLst>
              <a:gd name="adj" fmla="val 12500"/>
            </a:avLst>
          </a:prstGeom>
          <a:solidFill>
            <a:srgbClr val="F2F6F1"/>
          </a:solidFill>
          <a:ln w="12700">
            <a:solidFill>
              <a:srgbClr val="D8E2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46520" y="3872484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5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138160" y="3872484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· ±15° rotate · color jitter · affine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263640" y="4599432"/>
            <a:ext cx="5394960" cy="658368"/>
          </a:xfrm>
          <a:prstGeom prst="roundRect">
            <a:avLst>
              <a:gd name="adj" fmla="val 12500"/>
            </a:avLst>
          </a:prstGeom>
          <a:solidFill>
            <a:srgbClr val="E8F0E7"/>
          </a:solidFill>
          <a:ln w="12700">
            <a:solidFill>
              <a:srgbClr val="D8E2D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4599432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5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/ Image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138160" y="4599432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 ·  224 × 224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263640" y="5326380"/>
            <a:ext cx="5394960" cy="658368"/>
          </a:xfrm>
          <a:prstGeom prst="roundRect">
            <a:avLst>
              <a:gd name="adj" fmla="val 12500"/>
            </a:avLst>
          </a:prstGeom>
          <a:solidFill>
            <a:srgbClr val="F2F6F1"/>
          </a:solidFill>
          <a:ln w="12700">
            <a:solidFill>
              <a:srgbClr val="D8E2D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46520" y="5326380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5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138160" y="5326380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saved by validation accuracy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37160" cy="137160"/>
          </a:xfrm>
          <a:prstGeom prst="ellipse">
            <a:avLst/>
          </a:prstGeom>
          <a:solidFill>
            <a:srgbClr val="5A9E6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35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22B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Overview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424160" y="475488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5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pPr algn="r" indent="0" marL="0">
              <a:buNone/>
            </a:pPr>
            <a:r>
              <a:rPr lang="en-US" sz="1200" dirty="0">
                <a:solidFill>
                  <a:srgbClr val="6A7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A7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metrics will be added once training completes. The evaluation below is computed on the held-out test set.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3566160" cy="1600200"/>
          </a:xfrm>
          <a:prstGeom prst="roundRect">
            <a:avLst>
              <a:gd name="adj" fmla="val 5143"/>
            </a:avLst>
          </a:prstGeom>
          <a:solidFill>
            <a:srgbClr val="E8F0E7"/>
          </a:solidFill>
          <a:ln w="12700">
            <a:solidFill>
              <a:srgbClr val="5A9E6F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4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2542032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5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 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731520" y="3337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A7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43400" y="2286000"/>
            <a:ext cx="3566160" cy="1600200"/>
          </a:xfrm>
          <a:prstGeom prst="roundRect">
            <a:avLst>
              <a:gd name="adj" fmla="val 5143"/>
            </a:avLst>
          </a:prstGeom>
          <a:solidFill>
            <a:srgbClr val="F2F6F1"/>
          </a:solidFill>
          <a:ln w="12700">
            <a:solidFill>
              <a:srgbClr val="D8E2D6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4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26280" y="2542032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5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4526280" y="3337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A7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38160" y="2286000"/>
            <a:ext cx="3566160" cy="1600200"/>
          </a:xfrm>
          <a:prstGeom prst="roundRect">
            <a:avLst>
              <a:gd name="adj" fmla="val 5143"/>
            </a:avLst>
          </a:prstGeom>
          <a:solidFill>
            <a:srgbClr val="F2F6F1"/>
          </a:solidFill>
          <a:ln w="12700">
            <a:solidFill>
              <a:srgbClr val="D8E2D6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4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21040" y="2542032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5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8321040" y="3337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A7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160520"/>
            <a:ext cx="111099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8E2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27939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report (to be filled in)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4617720"/>
          <a:ext cx="10744200" cy="914400"/>
        </p:xfrm>
        <a:graphic>
          <a:graphicData uri="http://schemas.openxmlformats.org/drawingml/2006/table">
            <a:tbl>
              <a:tblPr/>
              <a:tblGrid>
                <a:gridCol w="3063240"/>
                <a:gridCol w="1920240"/>
                <a:gridCol w="1920240"/>
                <a:gridCol w="1920240"/>
                <a:gridCol w="19202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B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B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B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B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B4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C8E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Fresh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A77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A77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A77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A77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8A5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Rotten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A77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A77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A77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A77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37160" cy="137160"/>
          </a:xfrm>
          <a:prstGeom prst="ellipse">
            <a:avLst/>
          </a:prstGeom>
          <a:solidFill>
            <a:srgbClr val="5A9E6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35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22B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424160" y="475488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5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pPr algn="r" indent="0" marL="0">
              <a:buNone/>
            </a:pPr>
            <a:r>
              <a:rPr lang="en-US" sz="1200" dirty="0">
                <a:solidFill>
                  <a:srgbClr val="6A7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3657600" cy="3977640"/>
          </a:xfrm>
          <a:prstGeom prst="roundRect">
            <a:avLst>
              <a:gd name="adj" fmla="val 2250"/>
            </a:avLst>
          </a:prstGeom>
          <a:solidFill>
            <a:srgbClr val="E8F0E7"/>
          </a:solidFill>
          <a:ln w="12700">
            <a:solidFill>
              <a:srgbClr val="5A9E6F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4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20574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35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65176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22B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 . — %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685800" y="411480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A7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in after evaluation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A7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held-out test set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26280" y="1737360"/>
            <a:ext cx="7132320" cy="3977640"/>
          </a:xfrm>
          <a:prstGeom prst="roundRect">
            <a:avLst>
              <a:gd name="adj" fmla="val 1839"/>
            </a:avLst>
          </a:prstGeom>
          <a:solidFill>
            <a:srgbClr val="F2F6F1"/>
          </a:solidFill>
          <a:ln w="19050">
            <a:solidFill>
              <a:srgbClr val="5A9E6F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4709160" y="196596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vs. Validation Accuracy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09160" y="356616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5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accuracy_curve.png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09160" y="397764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6A7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across all 20 epochs (5 warm-up + 15 fine-tune) will be plotted here.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37160" cy="137160"/>
          </a:xfrm>
          <a:prstGeom prst="ellipse">
            <a:avLst/>
          </a:prstGeom>
          <a:solidFill>
            <a:srgbClr val="5A9E6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35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22B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Confusion Matrix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424160" y="475488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5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pPr algn="r" indent="0" marL="0">
              <a:buNone/>
            </a:pPr>
            <a:r>
              <a:rPr lang="en-US" sz="1200" dirty="0">
                <a:solidFill>
                  <a:srgbClr val="6A7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5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matrix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4480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2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are the true class, columns are the predicted class.</a:t>
            </a:r>
            <a:endParaRPr lang="en-US" sz="1400" dirty="0"/>
          </a:p>
          <a:p>
            <a:pPr algn="l" marL="177800" indent="-1778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2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diagonal shows correct predictions.</a:t>
            </a:r>
            <a:endParaRPr lang="en-US" sz="1400" dirty="0"/>
          </a:p>
          <a:p>
            <a:pPr algn="l" marL="177800" indent="-1778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2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Off-diagonal cells reveal which class the model confuses.</a:t>
            </a:r>
            <a:endParaRPr lang="en-US" sz="1400" dirty="0"/>
          </a:p>
          <a:p>
            <a:pPr algn="l" marL="177800" indent="-1778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2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on the test set as confusion_matrix.png.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0" y="16916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A7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0" y="193852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C8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040880" y="193852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5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Rotten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 rot="16200000">
            <a:off x="4343400" y="3611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A7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709160" y="2194560"/>
            <a:ext cx="731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C8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09160" y="3749040"/>
            <a:ext cx="731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A5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Rotten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0" y="2194560"/>
            <a:ext cx="1554480" cy="1554480"/>
          </a:xfrm>
          <a:prstGeom prst="rect">
            <a:avLst/>
          </a:prstGeom>
          <a:solidFill>
            <a:srgbClr val="E8F0E7"/>
          </a:solidFill>
          <a:ln w="12700">
            <a:solidFill>
              <a:srgbClr val="5A9E6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0" y="2194560"/>
            <a:ext cx="1554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5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7040880" y="2194560"/>
            <a:ext cx="1554480" cy="1554480"/>
          </a:xfrm>
          <a:prstGeom prst="rect">
            <a:avLst/>
          </a:prstGeom>
          <a:solidFill>
            <a:srgbClr val="F2F6F1"/>
          </a:solidFill>
          <a:ln w="12700">
            <a:solidFill>
              <a:srgbClr val="5A9E6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0" y="2194560"/>
            <a:ext cx="1554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A77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5486400" y="3749040"/>
            <a:ext cx="1554480" cy="1554480"/>
          </a:xfrm>
          <a:prstGeom prst="rect">
            <a:avLst/>
          </a:prstGeom>
          <a:solidFill>
            <a:srgbClr val="F2F6F1"/>
          </a:solidFill>
          <a:ln w="12700">
            <a:solidFill>
              <a:srgbClr val="5A9E6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0" y="3749040"/>
            <a:ext cx="1554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A77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7040880" y="3749040"/>
            <a:ext cx="1554480" cy="1554480"/>
          </a:xfrm>
          <a:prstGeom prst="rect">
            <a:avLst/>
          </a:prstGeom>
          <a:solidFill>
            <a:srgbClr val="E8F0E7"/>
          </a:solidFill>
          <a:ln w="12700">
            <a:solidFill>
              <a:srgbClr val="5A9E6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0" y="3749040"/>
            <a:ext cx="1554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5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486400" y="54406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A7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populate after test-set evaluation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37160" cy="137160"/>
          </a:xfrm>
          <a:prstGeom prst="ellipse">
            <a:avLst/>
          </a:prstGeom>
          <a:solidFill>
            <a:srgbClr val="5A9E6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35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22B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Predictions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424160" y="475488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5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pPr algn="r" indent="0" marL="0">
              <a:buNone/>
            </a:pPr>
            <a:r>
              <a:rPr lang="en-US" sz="1200" dirty="0">
                <a:solidFill>
                  <a:srgbClr val="6A7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A7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test images with the model's predicted label and confidence (values to be filled in).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2240280"/>
            <a:ext cx="2606040" cy="3429000"/>
          </a:xfrm>
          <a:prstGeom prst="roundRect">
            <a:avLst>
              <a:gd name="adj" fmla="val 3158"/>
            </a:avLst>
          </a:prstGeom>
          <a:solidFill>
            <a:srgbClr val="F2F6F1"/>
          </a:solidFill>
          <a:ln w="12700">
            <a:solidFill>
              <a:srgbClr val="D8E2D6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40">
                <a:alpha val="14000"/>
              </a:srgbClr>
            </a:outerShdw>
          </a:effectLst>
        </p:spPr>
      </p:sp>
      <p:pic>
        <p:nvPicPr>
          <p:cNvPr id="8" name="Image 0" descr="/tmp/fruitdeck/img/fresh_app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441448"/>
            <a:ext cx="2203704" cy="220370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489204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A7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Predicted:  </a:t>
            </a:r>
            <a:pPr algn="ctr" indent="0" marL="0">
              <a:buNone/>
            </a:pPr>
            <a:r>
              <a:rPr lang="en-US" sz="1350" b="1" dirty="0">
                <a:solidFill>
                  <a:srgbClr val="3C8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68680" y="523036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A7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 </a:t>
            </a:r>
            <a:pPr algn="ctr" indent="0" marL="0">
              <a:buNone/>
            </a:pPr>
            <a:r>
              <a:rPr lang="en-US" sz="1300" b="1" dirty="0">
                <a:solidFill>
                  <a:srgbClr val="22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%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547872" y="2240280"/>
            <a:ext cx="2606040" cy="3429000"/>
          </a:xfrm>
          <a:prstGeom prst="roundRect">
            <a:avLst>
              <a:gd name="adj" fmla="val 3158"/>
            </a:avLst>
          </a:prstGeom>
          <a:solidFill>
            <a:srgbClr val="F2F6F1"/>
          </a:solidFill>
          <a:ln w="12700">
            <a:solidFill>
              <a:srgbClr val="D8E2D6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40">
                <a:alpha val="14000"/>
              </a:srgbClr>
            </a:outerShdw>
          </a:effectLst>
        </p:spPr>
      </p:sp>
      <p:pic>
        <p:nvPicPr>
          <p:cNvPr id="12" name="Image 1" descr="/tmp/fruitdeck/img/rotten_banana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2441448"/>
            <a:ext cx="2203704" cy="220370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30752" y="489204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A7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Predicted:  </a:t>
            </a:r>
            <a:pPr algn="ctr" indent="0" marL="0">
              <a:buNone/>
            </a:pPr>
            <a:r>
              <a:rPr lang="en-US" sz="1350" b="1" dirty="0">
                <a:solidFill>
                  <a:srgbClr val="8A5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Rotten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730752" y="523036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A7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 </a:t>
            </a:r>
            <a:pPr algn="ctr" indent="0" marL="0">
              <a:buNone/>
            </a:pPr>
            <a:r>
              <a:rPr lang="en-US" sz="1300" b="1" dirty="0">
                <a:solidFill>
                  <a:srgbClr val="22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%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409944" y="2240280"/>
            <a:ext cx="2606040" cy="3429000"/>
          </a:xfrm>
          <a:prstGeom prst="roundRect">
            <a:avLst>
              <a:gd name="adj" fmla="val 3158"/>
            </a:avLst>
          </a:prstGeom>
          <a:solidFill>
            <a:srgbClr val="F2F6F1"/>
          </a:solidFill>
          <a:ln w="12700">
            <a:solidFill>
              <a:srgbClr val="D8E2D6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40">
                <a:alpha val="14000"/>
              </a:srgbClr>
            </a:outerShdw>
          </a:effectLst>
        </p:spPr>
      </p:sp>
      <p:pic>
        <p:nvPicPr>
          <p:cNvPr id="16" name="Image 2" descr="/tmp/fruitdeck/img/fresh_orange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12" y="2441448"/>
            <a:ext cx="2203704" cy="220370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92824" y="489204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A7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Predicted:  </a:t>
            </a:r>
            <a:pPr algn="ctr" indent="0" marL="0">
              <a:buNone/>
            </a:pPr>
            <a:r>
              <a:rPr lang="en-US" sz="1350" b="1" dirty="0">
                <a:solidFill>
                  <a:srgbClr val="3C8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592824" y="523036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A7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 </a:t>
            </a:r>
            <a:pPr algn="ctr" indent="0" marL="0">
              <a:buNone/>
            </a:pPr>
            <a:r>
              <a:rPr lang="en-US" sz="1300" b="1" dirty="0">
                <a:solidFill>
                  <a:srgbClr val="22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%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9272016" y="2240280"/>
            <a:ext cx="2606040" cy="3429000"/>
          </a:xfrm>
          <a:prstGeom prst="roundRect">
            <a:avLst>
              <a:gd name="adj" fmla="val 3158"/>
            </a:avLst>
          </a:prstGeom>
          <a:solidFill>
            <a:srgbClr val="F2F6F1"/>
          </a:solidFill>
          <a:ln w="12700">
            <a:solidFill>
              <a:srgbClr val="D8E2D6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40">
                <a:alpha val="14000"/>
              </a:srgbClr>
            </a:outerShdw>
          </a:effectLst>
        </p:spPr>
      </p:sp>
      <p:pic>
        <p:nvPicPr>
          <p:cNvPr id="20" name="Image 3" descr="/tmp/fruitdeck/img/rotten_apple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3184" y="2441448"/>
            <a:ext cx="2203704" cy="220370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454896" y="489204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A7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Predicted:  </a:t>
            </a:r>
            <a:pPr algn="ctr" indent="0" marL="0">
              <a:buNone/>
            </a:pPr>
            <a:r>
              <a:rPr lang="en-US" sz="1350" b="1" dirty="0">
                <a:solidFill>
                  <a:srgbClr val="8A5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Rotten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9454896" y="523036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A7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 </a:t>
            </a:r>
            <a:pPr algn="ctr" indent="0" marL="0">
              <a:buNone/>
            </a:pPr>
            <a:r>
              <a:rPr lang="en-US" sz="1300" b="1" dirty="0">
                <a:solidFill>
                  <a:srgbClr val="22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%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C3A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2377440"/>
            <a:ext cx="5943600" cy="5943600"/>
          </a:xfrm>
          <a:prstGeom prst="ellipse">
            <a:avLst/>
          </a:prstGeom>
          <a:solidFill>
            <a:srgbClr val="16301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514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A9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288036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7E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fruit image and get an instant fresh-or-rotten prediction.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326880" y="3017520"/>
            <a:ext cx="18288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2D6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40">
                <a:alpha val="16000"/>
              </a:srgbClr>
            </a:outerShdw>
          </a:effectLst>
        </p:spPr>
      </p:sp>
      <p:pic>
        <p:nvPicPr>
          <p:cNvPr id="7" name="Image 0" descr="/tmp/fruitdeck/img/fresh_orang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0" y="3108960"/>
            <a:ext cx="1645920" cy="16459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624060" y="4672584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3C8E52"/>
          </a:solidFill>
          <a:ln/>
          <a:effectLst>
            <a:outerShdw sx="100000" sy="100000" kx="0" ky="0" algn="bl" rotWithShape="0" blurRad="63500" dist="12700" dir="5400000">
              <a:srgbClr val="3A4A40">
                <a:alpha val="2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624060" y="4672584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0424160" y="47548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DB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37160" cy="137160"/>
          </a:xfrm>
          <a:prstGeom prst="ellipse">
            <a:avLst/>
          </a:prstGeom>
          <a:solidFill>
            <a:srgbClr val="5A9E6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35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· STEP 1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22B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 a Fruit Image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424160" y="475488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5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pPr algn="r" indent="0" marL="0">
              <a:buNone/>
            </a:pPr>
            <a:r>
              <a:rPr lang="en-US" sz="1200" dirty="0">
                <a:solidFill>
                  <a:srgbClr val="6A7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2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selects or drags a photo of one fruit into the app.</a:t>
            </a:r>
            <a:endParaRPr lang="en-US" sz="1500" dirty="0"/>
          </a:p>
          <a:p>
            <a:pPr algn="l" marL="177800" indent="-1778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2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image is resized to 224×224 and normalized automatically.</a:t>
            </a:r>
            <a:endParaRPr lang="en-US" sz="1500" dirty="0"/>
          </a:p>
          <a:p>
            <a:pPr algn="l" marL="177800" indent="-1778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2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special equipment — any phone or laptop camera works.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51663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A7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mockup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577840" y="1737360"/>
            <a:ext cx="608076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D8E2D6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4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577840" y="1737360"/>
            <a:ext cx="6080760" cy="457200"/>
          </a:xfrm>
          <a:prstGeom prst="rect">
            <a:avLst/>
          </a:prstGeom>
          <a:solidFill>
            <a:srgbClr val="356B47"/>
          </a:solidFill>
          <a:ln/>
        </p:spPr>
      </p:sp>
      <p:sp>
        <p:nvSpPr>
          <p:cNvPr id="10" name="Shape 8"/>
          <p:cNvSpPr/>
          <p:nvPr/>
        </p:nvSpPr>
        <p:spPr>
          <a:xfrm>
            <a:off x="5806440" y="1901952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6035040" y="1901952"/>
            <a:ext cx="128016" cy="128016"/>
          </a:xfrm>
          <a:prstGeom prst="ellipse">
            <a:avLst/>
          </a:prstGeom>
          <a:solidFill>
            <a:srgbClr val="BFD9C6"/>
          </a:solidFill>
          <a:ln/>
        </p:spPr>
      </p:sp>
      <p:sp>
        <p:nvSpPr>
          <p:cNvPr id="12" name="Shape 10"/>
          <p:cNvSpPr/>
          <p:nvPr/>
        </p:nvSpPr>
        <p:spPr>
          <a:xfrm>
            <a:off x="6263640" y="1901952"/>
            <a:ext cx="128016" cy="128016"/>
          </a:xfrm>
          <a:prstGeom prst="ellipse">
            <a:avLst/>
          </a:prstGeom>
          <a:solidFill>
            <a:srgbClr val="BFD9C6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17373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 Freshness Checker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0" y="2468880"/>
            <a:ext cx="5349240" cy="2606040"/>
          </a:xfrm>
          <a:prstGeom prst="roundRect">
            <a:avLst>
              <a:gd name="adj" fmla="val 3509"/>
            </a:avLst>
          </a:prstGeom>
          <a:solidFill>
            <a:srgbClr val="F2F6F1"/>
          </a:solidFill>
          <a:ln w="19050">
            <a:solidFill>
              <a:srgbClr val="5A9E6F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8183880" y="2743200"/>
            <a:ext cx="868680" cy="658368"/>
          </a:xfrm>
          <a:prstGeom prst="roundRect">
            <a:avLst>
              <a:gd name="adj" fmla="val 11111"/>
            </a:avLst>
          </a:prstGeom>
          <a:solidFill>
            <a:srgbClr val="5A9E6F"/>
          </a:solidFill>
          <a:ln/>
        </p:spPr>
      </p:sp>
      <p:sp>
        <p:nvSpPr>
          <p:cNvPr id="16" name="Text 14"/>
          <p:cNvSpPr/>
          <p:nvPr/>
        </p:nvSpPr>
        <p:spPr>
          <a:xfrm>
            <a:off x="8183880" y="2743200"/>
            <a:ext cx="868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126480" y="3520440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&amp; drop a fruit photo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126480" y="388620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A7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click to browse — JPG / PNG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275320" y="4343400"/>
            <a:ext cx="1508760" cy="502920"/>
          </a:xfrm>
          <a:prstGeom prst="roundRect">
            <a:avLst>
              <a:gd name="adj" fmla="val 49091"/>
            </a:avLst>
          </a:prstGeom>
          <a:solidFill>
            <a:srgbClr val="356B47"/>
          </a:solidFill>
          <a:ln/>
          <a:effectLst>
            <a:outerShdw sx="100000" sy="100000" kx="0" ky="0" algn="bl" rotWithShape="0" blurRad="63500" dist="12700" dir="5400000">
              <a:srgbClr val="3A4A4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75320" y="434340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file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43600" y="5257800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A7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press  “Predict”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37160" cy="137160"/>
          </a:xfrm>
          <a:prstGeom prst="ellipse">
            <a:avLst/>
          </a:prstGeom>
          <a:solidFill>
            <a:srgbClr val="5A9E6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35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· STEP 2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22B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 the Prediction Result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424160" y="475488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5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pPr algn="r" indent="0" marL="0">
              <a:buNone/>
            </a:pPr>
            <a:r>
              <a:rPr lang="en-US" sz="1200" dirty="0">
                <a:solidFill>
                  <a:srgbClr val="6A7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594360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D8E2D6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4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737360"/>
            <a:ext cx="5943600" cy="457200"/>
          </a:xfrm>
          <a:prstGeom prst="rect">
            <a:avLst/>
          </a:prstGeom>
          <a:solidFill>
            <a:srgbClr val="356B47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7373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68680" y="2468880"/>
            <a:ext cx="21488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8E2D6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40">
                <a:alpha val="16000"/>
              </a:srgbClr>
            </a:outerShdw>
          </a:effectLst>
        </p:spPr>
      </p:sp>
      <p:pic>
        <p:nvPicPr>
          <p:cNvPr id="10" name="Image 0" descr="/tmp/fruitdeck/img/fresh_app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560320"/>
            <a:ext cx="1965960" cy="19659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291840" y="2606040"/>
            <a:ext cx="2971800" cy="685800"/>
          </a:xfrm>
          <a:prstGeom prst="roundRect">
            <a:avLst>
              <a:gd name="adj" fmla="val 13333"/>
            </a:avLst>
          </a:prstGeom>
          <a:solidFill>
            <a:srgbClr val="3C8E52"/>
          </a:solidFill>
          <a:ln/>
          <a:effectLst>
            <a:outerShdw sx="100000" sy="100000" kx="0" ky="0" algn="bl" rotWithShape="0" blurRad="63500" dist="12700" dir="5400000">
              <a:srgbClr val="3A4A40">
                <a:alpha val="2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291840" y="260604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FRESH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3291840" y="342900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 (example)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291840" y="37947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160520" y="3849624"/>
            <a:ext cx="1554480" cy="182880"/>
          </a:xfrm>
          <a:prstGeom prst="roundRect">
            <a:avLst>
              <a:gd name="adj" fmla="val 50000"/>
            </a:avLst>
          </a:prstGeom>
          <a:solidFill>
            <a:srgbClr val="D8E2D6"/>
          </a:solidFill>
          <a:ln/>
        </p:spPr>
      </p:sp>
      <p:sp>
        <p:nvSpPr>
          <p:cNvPr id="16" name="Shape 13"/>
          <p:cNvSpPr/>
          <p:nvPr/>
        </p:nvSpPr>
        <p:spPr>
          <a:xfrm>
            <a:off x="4160520" y="3849624"/>
            <a:ext cx="1430122" cy="182880"/>
          </a:xfrm>
          <a:prstGeom prst="roundRect">
            <a:avLst>
              <a:gd name="adj" fmla="val 50000"/>
            </a:avLst>
          </a:prstGeom>
          <a:solidFill>
            <a:srgbClr val="3C8E52"/>
          </a:solidFill>
          <a:ln/>
        </p:spPr>
      </p:sp>
      <p:sp>
        <p:nvSpPr>
          <p:cNvPr id="17" name="Text 14"/>
          <p:cNvSpPr/>
          <p:nvPr/>
        </p:nvSpPr>
        <p:spPr>
          <a:xfrm>
            <a:off x="5760720" y="379476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291840" y="4206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Rotten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160520" y="4261104"/>
            <a:ext cx="1554480" cy="182880"/>
          </a:xfrm>
          <a:prstGeom prst="roundRect">
            <a:avLst>
              <a:gd name="adj" fmla="val 50000"/>
            </a:avLst>
          </a:prstGeom>
          <a:solidFill>
            <a:srgbClr val="D8E2D6"/>
          </a:solidFill>
          <a:ln/>
        </p:spPr>
      </p:sp>
      <p:sp>
        <p:nvSpPr>
          <p:cNvPr id="20" name="Shape 17"/>
          <p:cNvSpPr/>
          <p:nvPr/>
        </p:nvSpPr>
        <p:spPr>
          <a:xfrm>
            <a:off x="4160520" y="4261104"/>
            <a:ext cx="124358" cy="182880"/>
          </a:xfrm>
          <a:prstGeom prst="roundRect">
            <a:avLst>
              <a:gd name="adj" fmla="val 73530"/>
            </a:avLst>
          </a:prstGeom>
          <a:solidFill>
            <a:srgbClr val="8A5A3B"/>
          </a:solidFill>
          <a:ln/>
        </p:spPr>
      </p:sp>
      <p:sp>
        <p:nvSpPr>
          <p:cNvPr id="21" name="Text 18"/>
          <p:cNvSpPr/>
          <p:nvPr/>
        </p:nvSpPr>
        <p:spPr>
          <a:xfrm>
            <a:off x="5760720" y="420624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77240" y="50292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6A7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shown are an example layout — the app returns the model's real probabilities.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6858000" y="1828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5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858000" y="2286000"/>
            <a:ext cx="4800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2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image passes once through the trained network.</a:t>
            </a:r>
            <a:endParaRPr lang="en-US" sz="1450" dirty="0"/>
          </a:p>
          <a:p>
            <a:pPr algn="l" marL="177800" indent="-1778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2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softmax turns the outputs into class probabilities.</a:t>
            </a:r>
            <a:endParaRPr lang="en-US" sz="1450" dirty="0"/>
          </a:p>
          <a:p>
            <a:pPr algn="l" marL="177800" indent="-1778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2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higher probability becomes the label — Fresh or Rotten.</a:t>
            </a:r>
            <a:endParaRPr lang="en-US" sz="1450" dirty="0"/>
          </a:p>
          <a:p>
            <a:pPr algn="l" marL="177800" indent="-1778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2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score gives the user a sense of how certain the model is.</a:t>
            </a:r>
            <a:endParaRPr lang="en-US" sz="14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37160" cy="137160"/>
          </a:xfrm>
          <a:prstGeom prst="ellipse">
            <a:avLst/>
          </a:prstGeom>
          <a:solidFill>
            <a:srgbClr val="5A9E6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35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22B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Product Vision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424160" y="475488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5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pPr algn="r" indent="0" marL="0">
              <a:buNone/>
            </a:pPr>
            <a:r>
              <a:rPr lang="en-US" sz="1200" dirty="0">
                <a:solidFill>
                  <a:srgbClr val="6A7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2697480" cy="3749040"/>
          </a:xfrm>
          <a:prstGeom prst="roundRect">
            <a:avLst>
              <a:gd name="adj" fmla="val 3051"/>
            </a:avLst>
          </a:prstGeom>
          <a:solidFill>
            <a:srgbClr val="F2F6F1"/>
          </a:solidFill>
          <a:ln w="12700">
            <a:solidFill>
              <a:srgbClr val="D8E2D6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4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97380" y="0"/>
            <a:ext cx="0" cy="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219456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356B47"/>
          </a:solidFill>
          <a:ln/>
          <a:effectLst>
            <a:outerShdw sx="100000" sy="100000" kx="0" ky="0" algn="bl" rotWithShape="0" blurRad="63500" dist="12700" dir="5400000">
              <a:srgbClr val="3A4A4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21945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49808" y="3200400"/>
            <a:ext cx="2295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phone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49808" y="3703320"/>
            <a:ext cx="229514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A7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mobile app that checks fruit right at the shelf or in the kitchen.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456432" y="1920240"/>
            <a:ext cx="2697480" cy="3749040"/>
          </a:xfrm>
          <a:prstGeom prst="roundRect">
            <a:avLst>
              <a:gd name="adj" fmla="val 3051"/>
            </a:avLst>
          </a:prstGeom>
          <a:solidFill>
            <a:srgbClr val="F2F6F1"/>
          </a:solidFill>
          <a:ln w="12700">
            <a:solidFill>
              <a:srgbClr val="D8E2D6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4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05172" y="0"/>
            <a:ext cx="0" cy="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3685032" y="219456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5A9E6F"/>
          </a:solidFill>
          <a:ln/>
          <a:effectLst>
            <a:outerShdw sx="100000" sy="100000" kx="0" ky="0" algn="bl" rotWithShape="0" blurRad="63500" dist="12700" dir="5400000">
              <a:srgbClr val="3A4A4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85032" y="21945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657600" y="3200400"/>
            <a:ext cx="2295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edge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657600" y="3703320"/>
            <a:ext cx="229514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A7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low-cost Raspberry Pi kiosk for stores, markets, and warehouses.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364224" y="1920240"/>
            <a:ext cx="2697480" cy="3749040"/>
          </a:xfrm>
          <a:prstGeom prst="roundRect">
            <a:avLst>
              <a:gd name="adj" fmla="val 3051"/>
            </a:avLst>
          </a:prstGeom>
          <a:solidFill>
            <a:srgbClr val="F2F6F1"/>
          </a:solidFill>
          <a:ln w="12700">
            <a:solidFill>
              <a:srgbClr val="D8E2D6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4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712964" y="0"/>
            <a:ext cx="0" cy="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6592824" y="219456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D79A2B"/>
          </a:solidFill>
          <a:ln/>
          <a:effectLst>
            <a:outerShdw sx="100000" sy="100000" kx="0" ky="0" algn="bl" rotWithShape="0" blurRad="63500" dist="12700" dir="5400000">
              <a:srgbClr val="3A4A4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92824" y="21945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565392" y="3200400"/>
            <a:ext cx="2295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fruits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65392" y="3703320"/>
            <a:ext cx="229514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A7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beyond apple, banana, and orange to a wider range of produce.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9272016" y="1920240"/>
            <a:ext cx="2697480" cy="3749040"/>
          </a:xfrm>
          <a:prstGeom prst="roundRect">
            <a:avLst>
              <a:gd name="adj" fmla="val 3051"/>
            </a:avLst>
          </a:prstGeom>
          <a:solidFill>
            <a:srgbClr val="F2F6F1"/>
          </a:solidFill>
          <a:ln w="12700">
            <a:solidFill>
              <a:srgbClr val="D8E2D6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40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620756" y="0"/>
            <a:ext cx="0" cy="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9500616" y="219456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8A5A3B"/>
          </a:solidFill>
          <a:ln/>
          <a:effectLst>
            <a:outerShdw sx="100000" sy="100000" kx="0" ky="0" algn="bl" rotWithShape="0" blurRad="63500" dist="12700" dir="5400000">
              <a:srgbClr val="3A4A4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500616" y="21945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9473184" y="3200400"/>
            <a:ext cx="2295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at once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473184" y="3703320"/>
            <a:ext cx="229514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A7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and grade several fruits in one photo, in real time.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37160" cy="137160"/>
          </a:xfrm>
          <a:prstGeom prst="ellipse">
            <a:avLst/>
          </a:prstGeom>
          <a:solidFill>
            <a:srgbClr val="5A9E6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35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22B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Extend to a Mobile App or Raspberry Pi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424160" y="475488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5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pPr algn="r" indent="0" marL="0">
              <a:buNone/>
            </a:pPr>
            <a:r>
              <a:rPr lang="en-US" sz="1200" dirty="0">
                <a:solidFill>
                  <a:srgbClr val="6A7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349240" cy="4023360"/>
          </a:xfrm>
          <a:prstGeom prst="roundRect">
            <a:avLst>
              <a:gd name="adj" fmla="val 2045"/>
            </a:avLst>
          </a:prstGeom>
          <a:solidFill>
            <a:srgbClr val="E8F0E7"/>
          </a:solidFill>
          <a:ln w="12700">
            <a:solidFill>
              <a:srgbClr val="5A9E6F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4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057400"/>
            <a:ext cx="777240" cy="777240"/>
          </a:xfrm>
          <a:prstGeom prst="roundRect">
            <a:avLst>
              <a:gd name="adj" fmla="val 49412"/>
            </a:avLst>
          </a:prstGeom>
          <a:solidFill>
            <a:srgbClr val="356B47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0574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737360" y="21488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68680" y="3063240"/>
            <a:ext cx="4800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2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inference — no server round-trip needed.</a:t>
            </a:r>
            <a:endParaRPr lang="en-US" sz="1400" dirty="0"/>
          </a:p>
          <a:p>
            <a:pPr algn="l" marL="177800" indent="-1778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2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the camera and get an answer in the store.</a:t>
            </a:r>
            <a:endParaRPr lang="en-US" sz="1400" dirty="0"/>
          </a:p>
          <a:p>
            <a:pPr algn="l" marL="177800" indent="-1778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2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offline; the model is only a few megabytes.</a:t>
            </a:r>
            <a:endParaRPr lang="en-US" sz="1400" dirty="0"/>
          </a:p>
          <a:p>
            <a:pPr algn="l" marL="177800" indent="-1778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2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to TensorFlow Lite / Core ML for phones.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09360" y="1783080"/>
            <a:ext cx="5349240" cy="4023360"/>
          </a:xfrm>
          <a:prstGeom prst="roundRect">
            <a:avLst>
              <a:gd name="adj" fmla="val 2045"/>
            </a:avLst>
          </a:prstGeom>
          <a:solidFill>
            <a:srgbClr val="F2F6F1"/>
          </a:solidFill>
          <a:ln w="12700">
            <a:solidFill>
              <a:srgbClr val="D8E2D6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4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83680" y="2057400"/>
            <a:ext cx="777240" cy="777240"/>
          </a:xfrm>
          <a:prstGeom prst="roundRect">
            <a:avLst>
              <a:gd name="adj" fmla="val 49412"/>
            </a:avLst>
          </a:prstGeom>
          <a:solidFill>
            <a:srgbClr val="8A5A3B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20574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🍓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498080" y="21488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kiosk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629400" y="3063240"/>
            <a:ext cx="4800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2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 edge device for shops and warehouses.</a:t>
            </a:r>
            <a:endParaRPr lang="en-US" sz="1400" dirty="0"/>
          </a:p>
          <a:p>
            <a:pPr algn="l" marL="177800" indent="-1778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2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camera grades produce as it passes.</a:t>
            </a:r>
            <a:endParaRPr lang="en-US" sz="1400" dirty="0"/>
          </a:p>
          <a:p>
            <a:pPr algn="l" marL="177800" indent="-1778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2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EfficientNet-B0 is light enough to run on a Pi.</a:t>
            </a:r>
            <a:endParaRPr lang="en-US" sz="1400" dirty="0"/>
          </a:p>
          <a:p>
            <a:pPr algn="l" marL="177800" indent="-1778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2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freshness checks without cloud costs.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37160" cy="137160"/>
          </a:xfrm>
          <a:prstGeom prst="ellipse">
            <a:avLst/>
          </a:prstGeom>
          <a:solidFill>
            <a:srgbClr val="5A9E6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35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22B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Detection for Multiple Fruits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424160" y="475488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5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pPr algn="r" indent="0" marL="0">
              <a:buNone/>
            </a:pPr>
            <a:r>
              <a:rPr lang="en-US" sz="1200" dirty="0">
                <a:solidFill>
                  <a:srgbClr val="6A7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A7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one fruit per photo to many — and from classification to detection.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3566160" cy="3108960"/>
          </a:xfrm>
          <a:prstGeom prst="roundRect">
            <a:avLst>
              <a:gd name="adj" fmla="val 2647"/>
            </a:avLst>
          </a:prstGeom>
          <a:solidFill>
            <a:srgbClr val="F2F6F1"/>
          </a:solidFill>
          <a:ln w="12700">
            <a:solidFill>
              <a:srgbClr val="D8E2D6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40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256032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5A9E6F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5603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04672" y="3200400"/>
            <a:ext cx="30540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fruit per image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04672" y="3794760"/>
            <a:ext cx="305409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A7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a single cropped fruit as fresh or rotten.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096512" y="347472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A9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4343400" y="2286000"/>
            <a:ext cx="3566160" cy="3108960"/>
          </a:xfrm>
          <a:prstGeom prst="roundRect">
            <a:avLst>
              <a:gd name="adj" fmla="val 2647"/>
            </a:avLst>
          </a:prstGeom>
          <a:solidFill>
            <a:srgbClr val="F2F6F1"/>
          </a:solidFill>
          <a:ln w="12700">
            <a:solidFill>
              <a:srgbClr val="D8E2D6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4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256032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D79A2B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25603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99432" y="3200400"/>
            <a:ext cx="30540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fruit types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599432" y="3794760"/>
            <a:ext cx="305409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A7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Broaden the dataset and classes to cover more produce.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891272" y="347472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A9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8138160" y="2286000"/>
            <a:ext cx="3566160" cy="3108960"/>
          </a:xfrm>
          <a:prstGeom prst="roundRect">
            <a:avLst>
              <a:gd name="adj" fmla="val 2647"/>
            </a:avLst>
          </a:prstGeom>
          <a:solidFill>
            <a:srgbClr val="F2F6F1"/>
          </a:solidFill>
          <a:ln w="12700">
            <a:solidFill>
              <a:srgbClr val="D8E2D6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40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366760" y="256032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356B47"/>
          </a:solidFill>
          <a:ln/>
        </p:spPr>
      </p:sp>
      <p:sp>
        <p:nvSpPr>
          <p:cNvPr id="21" name="Text 19"/>
          <p:cNvSpPr/>
          <p:nvPr/>
        </p:nvSpPr>
        <p:spPr>
          <a:xfrm>
            <a:off x="8366760" y="25603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94192" y="3200400"/>
            <a:ext cx="30540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Multi-object detection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394192" y="3794760"/>
            <a:ext cx="305409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A7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and grade several fruits in one photo with bounding boxes.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5623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6A7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transfer-learning backbone extends naturally to object-detection heads (e.g. YOLO / SSD).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C3A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011680"/>
            <a:ext cx="5486400" cy="5486400"/>
          </a:xfrm>
          <a:prstGeom prst="ellipse">
            <a:avLst/>
          </a:prstGeom>
          <a:solidFill>
            <a:srgbClr val="16301F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3657600"/>
            <a:ext cx="5486400" cy="5486400"/>
          </a:xfrm>
          <a:prstGeom prst="ellipse">
            <a:avLst/>
          </a:prstGeom>
          <a:solidFill>
            <a:srgbClr val="16301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860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868680" y="342900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7E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 Ripeness Detection — a transfer-learning classifier that tells fresh from rotten, built to grow into a real product.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4709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Priti</a:t>
            </a:r>
            <a:pPr indent="0" marL="0">
              <a:buNone/>
            </a:pPr>
            <a:r>
              <a:rPr lang="en-US" sz="1400" dirty="0">
                <a:solidFill>
                  <a:srgbClr val="9DB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  Questions welcome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326880" y="214884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2D6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40">
                <a:alpha val="16000"/>
              </a:srgbClr>
            </a:outerShdw>
          </a:effectLst>
        </p:spPr>
      </p:sp>
      <p:pic>
        <p:nvPicPr>
          <p:cNvPr id="8" name="Image 0" descr="/tmp/fruitdeck/img/fresh_banan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0" y="2240280"/>
            <a:ext cx="1371600" cy="13716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486900" y="3529584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3C8E52"/>
          </a:solidFill>
          <a:ln/>
          <a:effectLst>
            <a:outerShdw sx="100000" sy="100000" kx="0" ky="0" algn="bl" rotWithShape="0" blurRad="63500" dist="12700" dir="5400000">
              <a:srgbClr val="3A4A40">
                <a:alpha val="2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9486900" y="3529584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9784080" y="384048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2D6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40">
                <a:alpha val="16000"/>
              </a:srgbClr>
            </a:outerShdw>
          </a:effectLst>
        </p:spPr>
      </p:sp>
      <p:pic>
        <p:nvPicPr>
          <p:cNvPr id="12" name="Image 1" descr="/tmp/fruitdeck/img/rotten_orang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3931920"/>
            <a:ext cx="1371600" cy="13716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9944100" y="5221224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8A5A3B"/>
          </a:solidFill>
          <a:ln/>
          <a:effectLst>
            <a:outerShdw sx="100000" sy="100000" kx="0" ky="0" algn="bl" rotWithShape="0" blurRad="63500" dist="12700" dir="5400000">
              <a:srgbClr val="3A4A40">
                <a:alpha val="20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9944100" y="5221224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Rotten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2026-08-22T15:18:19Z</dcterms:created>
  <dcterms:modified xsi:type="dcterms:W3CDTF">2026-08-22T15:18:19Z</dcterms:modified>
</cp:coreProperties>
</file>